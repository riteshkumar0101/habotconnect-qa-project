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9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21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oom.com/share/6c5b170d33e7412b86fc5124879ada41" TargetMode="External"/><Relationship Id="rId13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Riteshkumar0101/HabotConnect-QA-Project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  ·  INTERVIEW PRESENTATION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HabotConnect QA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Automated QA Strategy for the Parent-LSA 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Mobile App Quality Assurance Specialist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914400"/>
            <a:ext cx="2148840" cy="4480560"/>
          </a:xfrm>
          <a:prstGeom prst="roundRect">
            <a:avLst>
              <a:gd name="adj" fmla="val 11915"/>
            </a:avLst>
          </a:prstGeom>
          <a:solidFill>
            <a:srgbClr val="0F2748"/>
          </a:solidFill>
          <a:ln w="19050">
            <a:solidFill>
              <a:srgbClr val="2A4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71432" y="1207008"/>
            <a:ext cx="1911096" cy="3895344"/>
          </a:xfrm>
          <a:prstGeom prst="roundRect">
            <a:avLst>
              <a:gd name="adj" fmla="val 5742"/>
            </a:avLst>
          </a:prstGeom>
          <a:solidFill>
            <a:srgbClr val="F4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0948" y="1033272"/>
            <a:ext cx="512064" cy="82296"/>
          </a:xfrm>
          <a:prstGeom prst="roundRect">
            <a:avLst>
              <a:gd name="adj" fmla="val 44444"/>
            </a:avLst>
          </a:prstGeom>
          <a:solidFill>
            <a:srgbClr val="2A4A78"/>
          </a:solidFill>
          <a:ln/>
        </p:spPr>
      </p:sp>
      <p:sp>
        <p:nvSpPr>
          <p:cNvPr id="11" name="Shape 9"/>
          <p:cNvSpPr/>
          <p:nvPr/>
        </p:nvSpPr>
        <p:spPr>
          <a:xfrm>
            <a:off x="9308592" y="1417320"/>
            <a:ext cx="16367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63456" y="1481328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0" descr="/home/claude/habot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59" y="1506931"/>
            <a:ext cx="131674" cy="13167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601200" y="1517904"/>
            <a:ext cx="960120" cy="82296"/>
          </a:xfrm>
          <a:prstGeom prst="roundRect">
            <a:avLst>
              <a:gd name="adj" fmla="val 44444"/>
            </a:avLst>
          </a:prstGeom>
          <a:solidFill>
            <a:srgbClr val="D7DEEC"/>
          </a:solidFill>
          <a:ln/>
        </p:spPr>
      </p:sp>
      <p:sp>
        <p:nvSpPr>
          <p:cNvPr id="15" name="Shape 12"/>
          <p:cNvSpPr/>
          <p:nvPr/>
        </p:nvSpPr>
        <p:spPr>
          <a:xfrm>
            <a:off x="9308592" y="1874520"/>
            <a:ext cx="1636776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90888" y="195681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1" descr="/home/claude/habot/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413" y="2000341"/>
            <a:ext cx="223845" cy="22384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784080" y="1993392"/>
            <a:ext cx="822960" cy="73152"/>
          </a:xfrm>
          <a:prstGeom prst="roundRect">
            <a:avLst>
              <a:gd name="adj" fmla="val 50000"/>
            </a:avLst>
          </a:prstGeom>
          <a:solidFill>
            <a:srgbClr val="C9D3E6"/>
          </a:solidFill>
          <a:ln/>
        </p:spPr>
      </p:sp>
      <p:sp>
        <p:nvSpPr>
          <p:cNvPr id="19" name="Shape 15"/>
          <p:cNvSpPr/>
          <p:nvPr/>
        </p:nvSpPr>
        <p:spPr>
          <a:xfrm>
            <a:off x="9784080" y="2139696"/>
            <a:ext cx="548640" cy="64008"/>
          </a:xfrm>
          <a:prstGeom prst="roundRect">
            <a:avLst>
              <a:gd name="adj" fmla="val 57143"/>
            </a:avLst>
          </a:prstGeom>
          <a:solidFill>
            <a:srgbClr val="E1E7F0"/>
          </a:solidFill>
          <a:ln/>
        </p:spPr>
      </p:sp>
      <p:sp>
        <p:nvSpPr>
          <p:cNvPr id="20" name="Shape 16"/>
          <p:cNvSpPr/>
          <p:nvPr/>
        </p:nvSpPr>
        <p:spPr>
          <a:xfrm>
            <a:off x="9308592" y="2441448"/>
            <a:ext cx="1636776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90888" y="252374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2" descr="/home/claude/habot/icons/calend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413" y="2567269"/>
            <a:ext cx="223845" cy="22384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784080" y="2560320"/>
            <a:ext cx="822960" cy="73152"/>
          </a:xfrm>
          <a:prstGeom prst="roundRect">
            <a:avLst>
              <a:gd name="adj" fmla="val 50000"/>
            </a:avLst>
          </a:prstGeom>
          <a:solidFill>
            <a:srgbClr val="C9D3E6"/>
          </a:solidFill>
          <a:ln/>
        </p:spPr>
      </p:sp>
      <p:sp>
        <p:nvSpPr>
          <p:cNvPr id="24" name="Shape 19"/>
          <p:cNvSpPr/>
          <p:nvPr/>
        </p:nvSpPr>
        <p:spPr>
          <a:xfrm>
            <a:off x="9784080" y="2706624"/>
            <a:ext cx="548640" cy="64008"/>
          </a:xfrm>
          <a:prstGeom prst="roundRect">
            <a:avLst>
              <a:gd name="adj" fmla="val 57143"/>
            </a:avLst>
          </a:prstGeom>
          <a:solidFill>
            <a:srgbClr val="E1E7F0"/>
          </a:solidFill>
          <a:ln/>
        </p:spPr>
      </p:sp>
      <p:sp>
        <p:nvSpPr>
          <p:cNvPr id="25" name="Shape 20"/>
          <p:cNvSpPr/>
          <p:nvPr/>
        </p:nvSpPr>
        <p:spPr>
          <a:xfrm>
            <a:off x="9308592" y="3008376"/>
            <a:ext cx="1636776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90888" y="3090672"/>
            <a:ext cx="310896" cy="310896"/>
          </a:xfrm>
          <a:prstGeom prst="ellipse">
            <a:avLst/>
          </a:prstGeom>
          <a:solidFill>
            <a:srgbClr val="132A4D"/>
          </a:solidFill>
          <a:ln/>
        </p:spPr>
      </p:sp>
      <p:pic>
        <p:nvPicPr>
          <p:cNvPr id="27" name="Image 3" descr="/home/claude/habot/icons/credit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413" y="3134197"/>
            <a:ext cx="223845" cy="22384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784080" y="31272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C9D3E6"/>
          </a:solidFill>
          <a:ln/>
        </p:spPr>
      </p:sp>
      <p:sp>
        <p:nvSpPr>
          <p:cNvPr id="29" name="Shape 23"/>
          <p:cNvSpPr/>
          <p:nvPr/>
        </p:nvSpPr>
        <p:spPr>
          <a:xfrm>
            <a:off x="9784080" y="3273552"/>
            <a:ext cx="548640" cy="64008"/>
          </a:xfrm>
          <a:prstGeom prst="roundRect">
            <a:avLst>
              <a:gd name="adj" fmla="val 57143"/>
            </a:avLst>
          </a:prstGeom>
          <a:solidFill>
            <a:srgbClr val="E1E7F0"/>
          </a:solidFill>
          <a:ln/>
        </p:spPr>
      </p:sp>
      <p:sp>
        <p:nvSpPr>
          <p:cNvPr id="30" name="Shape 24"/>
          <p:cNvSpPr/>
          <p:nvPr/>
        </p:nvSpPr>
        <p:spPr>
          <a:xfrm>
            <a:off x="8732520" y="15544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4" descr="/home/claude/habot/icons/checkcirc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2929" y="1624889"/>
            <a:ext cx="362102" cy="36210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1018520" y="4480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5" descr="/home/claude/habot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8929" y="4550969"/>
            <a:ext cx="362102" cy="36210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40080" y="56235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Shape 27"/>
          <p:cNvSpPr/>
          <p:nvPr/>
        </p:nvSpPr>
        <p:spPr>
          <a:xfrm>
            <a:off x="804672" y="5815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6" descr="/home/claude/habot/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39" y="5869351"/>
            <a:ext cx="276515" cy="27651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98448" y="5733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NAME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298448" y="5952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Kumar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4389120" y="56235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553712" y="5815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1" name="Image 7" descr="/home/claude/habot/icons/mail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7479" y="5869351"/>
            <a:ext cx="276515" cy="27651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47488" y="5733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5047488" y="5952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riteshkmar89@gmail.com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8138160" y="56235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302752" y="5815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6" name="Image 8" descr="/home/claude/habot/icons/pho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519" y="5869351"/>
            <a:ext cx="276515" cy="27651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796528" y="5733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8796528" y="5952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7876014540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HabotConnect Parent-LSA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Parent-LSA is HabotConnect’s mobile booking platform connecting parents with Licensed Service Assistants. This project designs the automated QA architecture that keeps the app reliable, accessible, and fast as it scales.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0" descr="/home/claude/habot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7" y="2815255"/>
            <a:ext cx="276515" cy="27651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6152" y="273405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UI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16152" y="295351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components across screens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261518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76148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5" name="Image 1" descr="/home/claude/habot/icons/settin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67" y="2815255"/>
            <a:ext cx="276515" cy="2765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273405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959352" y="295351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release cycles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66674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81304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0" name="Image 2" descr="/home/claude/habot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567" y="3866815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6152" y="378561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Gaps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216152" y="40050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not yet enforced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291840" y="366674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429000" y="381304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3" descr="/home/claude/habot/icons/activ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2767" y="3866815"/>
            <a:ext cx="276515" cy="2765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959352" y="378561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Limits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959352" y="40050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startup on lower-end devices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489204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221224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4" descr="/home/claude/habot/icons/playcirc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610" y="5300594"/>
            <a:ext cx="408188" cy="4081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0749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VIDEO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508760" y="5330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minute walkthrough — Loom / Google Drive link:</a:t>
            </a:r>
            <a:endParaRPr lang="en-US" sz="1050" dirty="0"/>
          </a:p>
        </p:txBody>
      </p:sp>
      <p:sp>
        <p:nvSpPr>
          <p:cNvPr id="33" name="Text 26">
            <a:hlinkClick r:id="rId8"/>
          </p:cNvPr>
          <p:cNvSpPr/>
          <p:nvPr/>
        </p:nvSpPr>
        <p:spPr>
          <a:xfrm>
            <a:off x="1508760" y="5605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hlinkClick r:id="rId8"/>
              </a:rPr>
              <a:t>https://www.loom.com/share/6c5b170d33e7412b86fc5124879ada41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17220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PARENT-LSA BOOKING WORKFLOW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72200" y="173736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0216" y="178308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5" descr="/home/claude/habot/icons/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1422" y="1834286"/>
            <a:ext cx="263347" cy="26334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30568" y="1737360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Login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 rot="10800000">
            <a:off x="8833104" y="2208276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0" name="Shape 32"/>
          <p:cNvSpPr/>
          <p:nvPr/>
        </p:nvSpPr>
        <p:spPr>
          <a:xfrm>
            <a:off x="6172200" y="2318004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300216" y="236372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6" descr="/home/claude/habot/icons/search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1422" y="2414930"/>
            <a:ext cx="263347" cy="263347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30568" y="2318004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 LSA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 rot="10800000">
            <a:off x="8833104" y="2788920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5" name="Shape 36"/>
          <p:cNvSpPr/>
          <p:nvPr/>
        </p:nvSpPr>
        <p:spPr>
          <a:xfrm>
            <a:off x="6172200" y="2898648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300216" y="294436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7" name="Image 7" descr="/home/claude/habot/icons/use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1422" y="2995574"/>
            <a:ext cx="263347" cy="263347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830568" y="2898648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LSA Profile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 rot="10800000">
            <a:off x="8833104" y="3369564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0" name="Shape 40"/>
          <p:cNvSpPr/>
          <p:nvPr/>
        </p:nvSpPr>
        <p:spPr>
          <a:xfrm>
            <a:off x="6172200" y="3479292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300216" y="35250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2" name="Image 8" descr="/home/claude/habot/icons/calendar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1422" y="3576218"/>
            <a:ext cx="263347" cy="263347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830568" y="3479292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Date and Time</a:t>
            </a:r>
            <a:endParaRPr lang="en-US" sz="1300" dirty="0"/>
          </a:p>
        </p:txBody>
      </p:sp>
      <p:sp>
        <p:nvSpPr>
          <p:cNvPr id="54" name="Shape 43"/>
          <p:cNvSpPr/>
          <p:nvPr/>
        </p:nvSpPr>
        <p:spPr>
          <a:xfrm rot="10800000">
            <a:off x="8833104" y="3950208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5" name="Shape 44"/>
          <p:cNvSpPr/>
          <p:nvPr/>
        </p:nvSpPr>
        <p:spPr>
          <a:xfrm>
            <a:off x="6172200" y="4059936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6300216" y="410565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7" name="Image 9" descr="/home/claude/habot/icons/checksquare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1422" y="4156862"/>
            <a:ext cx="263347" cy="263347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6830568" y="4059936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</a:t>
            </a:r>
            <a:endParaRPr lang="en-US" sz="1300" dirty="0"/>
          </a:p>
        </p:txBody>
      </p:sp>
      <p:sp>
        <p:nvSpPr>
          <p:cNvPr id="59" name="Shape 47"/>
          <p:cNvSpPr/>
          <p:nvPr/>
        </p:nvSpPr>
        <p:spPr>
          <a:xfrm rot="10800000">
            <a:off x="8833104" y="4530852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60" name="Shape 48"/>
          <p:cNvSpPr/>
          <p:nvPr/>
        </p:nvSpPr>
        <p:spPr>
          <a:xfrm>
            <a:off x="6172200" y="464058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6300216" y="46863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2" name="Image 10" descr="/home/claude/habot/icons/creditcar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1422" y="4737506"/>
            <a:ext cx="263347" cy="263347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830568" y="4640580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Payment</a:t>
            </a:r>
            <a:endParaRPr lang="en-US" sz="1300" dirty="0"/>
          </a:p>
        </p:txBody>
      </p:sp>
      <p:sp>
        <p:nvSpPr>
          <p:cNvPr id="64" name="Shape 51"/>
          <p:cNvSpPr/>
          <p:nvPr/>
        </p:nvSpPr>
        <p:spPr>
          <a:xfrm rot="10800000">
            <a:off x="8833104" y="5111496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65" name="Shape 52"/>
          <p:cNvSpPr/>
          <p:nvPr/>
        </p:nvSpPr>
        <p:spPr>
          <a:xfrm>
            <a:off x="6172200" y="5221224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66" name="Shape 53"/>
          <p:cNvSpPr/>
          <p:nvPr/>
        </p:nvSpPr>
        <p:spPr>
          <a:xfrm>
            <a:off x="6300216" y="526694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7" name="Image 11" descr="/home/claude/habot/icons/mail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1422" y="5318150"/>
            <a:ext cx="263347" cy="263347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6830568" y="5221224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QA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pipeline that validates every build before it reaches a parent’s device.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75104" y="201168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71" y="2065447"/>
            <a:ext cx="276515" cy="2765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14600" y="19751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192024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Parent-LSA app — the surface under test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rot="10800000">
            <a:off x="2093976" y="2491740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1828800" y="2633472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75104" y="2724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home/claude/habot/icons/settin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71" y="2778679"/>
            <a:ext cx="276515" cy="2765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268833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Framework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69280" y="263347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React Native Testing Library, Maestro run on every change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 rot="10800000">
            <a:off x="2093976" y="3204972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1828800" y="3346704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975104" y="343814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2" descr="/home/claude/habot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871" y="3491911"/>
            <a:ext cx="276515" cy="2765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14600" y="34015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Validation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669280" y="334670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checks via Accessibility Scanner, Stark, TalkBack, VoiceOver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rot="10800000">
            <a:off x="2093976" y="3918204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1828800" y="4059936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975104" y="41513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/home/claude/habot/icons/activ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871" y="4205143"/>
            <a:ext cx="276515" cy="2765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14600" y="4114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0" y="405993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time, API latency, memory, CPU and FPS profiling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 rot="10800000">
            <a:off x="2093976" y="4631436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1" name="Shape 25"/>
          <p:cNvSpPr/>
          <p:nvPr/>
        </p:nvSpPr>
        <p:spPr>
          <a:xfrm>
            <a:off x="1828800" y="4773168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975104" y="486460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4" descr="/home/claude/habot/icons/git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8871" y="4918375"/>
            <a:ext cx="276515" cy="27651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514600" y="48280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669280" y="477316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orchestrates lint, test, and build stages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 rot="10800000">
            <a:off x="2093976" y="5344668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7" name="Shape 30"/>
          <p:cNvSpPr/>
          <p:nvPr/>
        </p:nvSpPr>
        <p:spPr>
          <a:xfrm>
            <a:off x="1828800" y="5486400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975104" y="55778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9" name="Image 5" descr="/home/claude/habot/icons/clou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871" y="5631607"/>
            <a:ext cx="276515" cy="27651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514600" y="55412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669280" y="54864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 ships verified builds to TestFlight / Play Console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Isolated Coverage with Jest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7" y="176204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181051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setup, native React Native support, snapshot testing, and the fastest feedback loop for logic-level checks.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880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COVERAGE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1868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335584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1" descr="/home/claude/habot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340705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97864" y="332841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97864" y="354787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token refresh, session guards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46120" y="321868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83280" y="335584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486" y="340705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95344" y="332841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Functionality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95344" y="354787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empty states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422452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36168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3" descr="/home/claude/habot/icons/checksqua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" y="441289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97864" y="433425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Functionality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97864" y="455371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selection, conflict handling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246120" y="422452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83280" y="436168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4" descr="/home/claude/habot/icons/creditc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4486" y="4412894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95344" y="433425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Validation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895344" y="455371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error handling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12648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 flipV="1">
            <a:off x="7955280" y="1874520"/>
            <a:ext cx="1828800" cy="1005840"/>
          </a:xfrm>
          <a:prstGeom prst="trapezoid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955280" y="2231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— Maestro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 flipV="1">
            <a:off x="7315200" y="2880360"/>
            <a:ext cx="3108960" cy="1005840"/>
          </a:xfrm>
          <a:prstGeom prst="trapezoid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315200" y="32369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RNTL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 flipV="1">
            <a:off x="6629400" y="3886200"/>
            <a:ext cx="4480560" cy="1280160"/>
          </a:xfrm>
          <a:prstGeom prst="trapezoid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629400" y="437997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Jest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12648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tests, lower cost, faster feedback — built bottom-up.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Components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Testing Library — tests how components, state, and APIs behave as a system.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4140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926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Interaction Testing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32004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real component trees and verifies user-facing behaviour, not implementation detail.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23500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habot/icons/refre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41401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98848" y="2926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Validation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498848" y="32004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state transitions — loading, error, success — render the correct UI.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47888" y="235000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41401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47888" y="2926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Testing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47888" y="32004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network layers to validate request/response handling end-to-end within a screen.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48640" y="39776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 WORKFLOW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47063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3" descr="/home/claude/habot/icons/smart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830" y="4516039"/>
            <a:ext cx="276515" cy="2765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4360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Component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 rot="5400000">
            <a:off x="3184398" y="48783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8" name="Shape 22"/>
          <p:cNvSpPr/>
          <p:nvPr/>
        </p:nvSpPr>
        <p:spPr>
          <a:xfrm>
            <a:off x="3385566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3989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4" descr="/home/claude/habot/icons/us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7756" y="4516039"/>
            <a:ext cx="276515" cy="27651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431286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User Interaction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 rot="5400000">
            <a:off x="6021324" y="48783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3" name="Shape 26"/>
          <p:cNvSpPr/>
          <p:nvPr/>
        </p:nvSpPr>
        <p:spPr>
          <a:xfrm>
            <a:off x="6222492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320915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5" name="Image 5" descr="/home/claude/habot/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4682" y="4516039"/>
            <a:ext cx="276515" cy="27651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268212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State &amp; UI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 rot="5400000">
            <a:off x="8858250" y="48783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8" name="Shape 30"/>
          <p:cNvSpPr/>
          <p:nvPr/>
        </p:nvSpPr>
        <p:spPr>
          <a:xfrm>
            <a:off x="9059418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157841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0" name="Image 6" descr="/home/claude/habot/icon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1608" y="4516039"/>
            <a:ext cx="276515" cy="27651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105138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API Call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E2E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691640" cy="1993392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270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Speed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4261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266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2996184" cy="1993392"/>
          </a:xfrm>
          <a:prstGeom prst="roundRect">
            <a:avLst>
              <a:gd name="adj" fmla="val 3670"/>
            </a:avLst>
          </a:prstGeom>
          <a:solidFill>
            <a:srgbClr val="E6FBF7"/>
          </a:solidFill>
          <a:ln w="12700">
            <a:solidFill>
              <a:srgbClr val="00C2A8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1508760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84904" y="149047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4184904" y="14904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331720" y="1874520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YAML config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2258568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flake-resistant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31720" y="2642616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026664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73624" y="1417320"/>
            <a:ext cx="29961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73624" y="1508760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65064" y="1874520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native setup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65064" y="2258568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65064" y="2642616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RN-specific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5064" y="3026664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06968" y="1417320"/>
            <a:ext cx="29961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6968" y="1508760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98408" y="1874520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server setup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98408" y="2258568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execution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98408" y="2642616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Cross-platform, broad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98408" y="3026664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547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is selected for its minimal YAML syntax, native reliability, and fast execution — ideal for a small QA team shipping frequently.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BOOKING WORKFLOW (MAESTRO)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174242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0" descr="/home/claude/habot/icons/play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09" y="5613319"/>
            <a:ext cx="276515" cy="27651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94360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 rot="5400000">
            <a:off x="2238756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9" name="Shape 36"/>
          <p:cNvSpPr/>
          <p:nvPr/>
        </p:nvSpPr>
        <p:spPr>
          <a:xfrm>
            <a:off x="2439924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065526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1" name="Image 1" descr="/home/claude/habot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293" y="5613319"/>
            <a:ext cx="276515" cy="276515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485644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 rot="5400000">
            <a:off x="4130040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4" name="Shape 40"/>
          <p:cNvSpPr/>
          <p:nvPr/>
        </p:nvSpPr>
        <p:spPr>
          <a:xfrm>
            <a:off x="4331208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956810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6" name="Image 2" descr="/home/claude/habot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577" y="5613319"/>
            <a:ext cx="276515" cy="276515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4376928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 rot="5400000">
            <a:off x="6021324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9" name="Shape 44"/>
          <p:cNvSpPr/>
          <p:nvPr/>
        </p:nvSpPr>
        <p:spPr>
          <a:xfrm>
            <a:off x="6222492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6848094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1" name="Image 3" descr="/home/claude/habot/icons/checksqua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861" y="5613319"/>
            <a:ext cx="276515" cy="276515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6268212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 rot="5400000">
            <a:off x="7912608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4" name="Shape 48"/>
          <p:cNvSpPr/>
          <p:nvPr/>
        </p:nvSpPr>
        <p:spPr>
          <a:xfrm>
            <a:off x="8113776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8739378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6" name="Image 4" descr="/home/claude/habot/icons/creditc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3145" y="5613319"/>
            <a:ext cx="276515" cy="276515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159496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 rot="5400000">
            <a:off x="9803892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9" name="Shape 52"/>
          <p:cNvSpPr/>
          <p:nvPr/>
        </p:nvSpPr>
        <p:spPr>
          <a:xfrm>
            <a:off x="10005060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10630662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1" name="Image 5" descr="/home/claude/habot/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4429" y="5613319"/>
            <a:ext cx="276515" cy="276515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10050780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COMPLIANCE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to WCAG 2.1 AA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Parent-LSA screen is validated against the four core principles of accessible design.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245425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048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alternatives, sufficient colour contrast, resizable text, screen-reader labels on every element.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21488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habot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50" y="245425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4048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26364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keyboard/switch navigation, generous touch targets, no time-critical interactions.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432877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2793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navigation, clear form labels and error messages, consistent UI patterns.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35040" y="402336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6364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habot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50" y="432877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42793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26364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assistive technologies — TalkBack, VoiceOver — across OS versions.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&amp; Assistive-Tech Auditing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68196" y="16916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006" y="176845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Scanner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automated contrast &amp; label audit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3319272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828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habot/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638" y="17684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10712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Design-stage contrast &amp; colour-blindness checks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6089904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9460" y="16916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/home/claude/habot/icons/volum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270" y="17684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TalkBack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81344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screen-reader manual walkthroughs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8860536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80092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habot/icons/headphon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902" y="176845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951976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screen-reader manual walkthroughs</a:t>
            </a:r>
            <a:endParaRPr lang="en-US" sz="870" dirty="0"/>
          </a:p>
        </p:txBody>
      </p:sp>
      <p:sp>
        <p:nvSpPr>
          <p:cNvPr id="26" name="Text 20"/>
          <p:cNvSpPr/>
          <p:nvPr/>
        </p:nvSpPr>
        <p:spPr>
          <a:xfrm>
            <a:off x="548640" y="333756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 CHECKLIST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8" name="Image 4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65" y="3746845"/>
            <a:ext cx="223845" cy="22384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3685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interactive elements have descriptive labels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370332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5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8565" y="3746845"/>
            <a:ext cx="223845" cy="22384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685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contrast meets a 4.5:1 minimum ratio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6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65" y="4295485"/>
            <a:ext cx="223845" cy="22384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7552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are at least 44×44 pt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6035040" y="425196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7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8565" y="4295485"/>
            <a:ext cx="223845" cy="22384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73952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order matches visual reading order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548640" y="480060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0" name="Image 8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65" y="4844125"/>
            <a:ext cx="223845" cy="22384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87552" y="47823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announce errors to assistive technology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6035040" y="480060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3" name="Image 9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8565" y="4844125"/>
            <a:ext cx="223845" cy="22384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473952" y="47823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fully navigable via screen reader alone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548640" y="5532120"/>
            <a:ext cx="10543032" cy="6858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77240" y="568756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7" name="Image 10" descr="/home/claude/habot/icons/refre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007" y="5741335"/>
            <a:ext cx="276515" cy="276515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325880" y="56235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CADENCE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1325880" y="5843016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scans run on every pull request; manual TalkBack / VoiceOver passes run before each release.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What Matters on Mobile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9050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09928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1B376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057400"/>
            <a:ext cx="1882932" cy="16459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585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971800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1B376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971800"/>
            <a:ext cx="1496690" cy="16459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3886200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1B37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886200"/>
            <a:ext cx="2172614" cy="16459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0873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7320" y="4937760"/>
            <a:ext cx="1005840" cy="1005840"/>
          </a:xfrm>
          <a:prstGeom prst="ellipse">
            <a:avLst/>
          </a:prstGeom>
          <a:solidFill>
            <a:srgbClr val="1B3760"/>
          </a:solidFill>
          <a:ln w="381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937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394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03320" y="15087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17007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0" descr="/home/claude/habot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764792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26280" y="16184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26280" y="19110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Cold-launch to interactive, target under 2 seconds.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03320" y="24231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886200" y="2615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1" descr="/home/claude/habot/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2679192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26280" y="25328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26280" y="28254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search endpoints, target under 400ms.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703320" y="33375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886200" y="35295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2" name="Image 2" descr="/home/claude/habot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3593592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526280" y="34472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526280" y="37398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heap during active booking flow.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703320" y="42519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886200" y="44439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3" descr="/home/claude/habot/icons/activ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4507992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526280" y="43616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4526280" y="46542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load during scroll and animation.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3703320" y="51663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886200" y="53583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4" descr="/home/claude/habot/icons/wat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5422392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526280" y="52760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4526280" y="55686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steady 60fps on list and transition views.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Techniques Applied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5564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8" y="181709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72821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16736" y="194767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images load on demand, not upfront.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80720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/home/claude/habot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68" y="286865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16736" y="277977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Caching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99923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LSA search results served from cache.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85876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/home/claude/habot/icons/im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68" y="39202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16736" y="383133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316736" y="405079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Compressed, correctly-sized assets per device.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91032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3" name="Image 3" descr="/home/claude/habot/icons/refre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68" y="4971776"/>
            <a:ext cx="316017" cy="31601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16736" y="488289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316736" y="510235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redundant re-renders on list and profile views.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126480" y="1554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OPTIMIZATION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126480" y="192024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0" y="2286000"/>
            <a:ext cx="548640" cy="2834640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29" name="Text 23"/>
          <p:cNvSpPr/>
          <p:nvPr/>
        </p:nvSpPr>
        <p:spPr>
          <a:xfrm>
            <a:off x="6309360" y="20299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178040" y="4156862"/>
            <a:ext cx="548640" cy="96377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5"/>
          <p:cNvSpPr/>
          <p:nvPr/>
        </p:nvSpPr>
        <p:spPr>
          <a:xfrm>
            <a:off x="7086600" y="39008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263640" y="5193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8046720" y="2711196"/>
            <a:ext cx="548640" cy="2409444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34" name="Text 28"/>
          <p:cNvSpPr/>
          <p:nvPr/>
        </p:nvSpPr>
        <p:spPr>
          <a:xfrm>
            <a:off x="7955280" y="245516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148MB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8823960" y="4100170"/>
            <a:ext cx="548640" cy="102047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0"/>
          <p:cNvSpPr/>
          <p:nvPr/>
        </p:nvSpPr>
        <p:spPr>
          <a:xfrm>
            <a:off x="8732520" y="384413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62MB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909560" y="5193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9692640" y="3136392"/>
            <a:ext cx="548640" cy="1984248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39" name="Text 33"/>
          <p:cNvSpPr/>
          <p:nvPr/>
        </p:nvSpPr>
        <p:spPr>
          <a:xfrm>
            <a:off x="9601200" y="28803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980ms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10469880" y="4497019"/>
            <a:ext cx="548640" cy="623621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1" name="Text 35"/>
          <p:cNvSpPr/>
          <p:nvPr/>
        </p:nvSpPr>
        <p:spPr>
          <a:xfrm>
            <a:off x="10378440" y="4240987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310ms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9555480" y="5193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Load Time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400800" y="5715000"/>
            <a:ext cx="164592" cy="164592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44" name="Text 38"/>
          <p:cNvSpPr/>
          <p:nvPr/>
        </p:nvSpPr>
        <p:spPr>
          <a:xfrm>
            <a:off x="6629400" y="5669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7680960" y="5715000"/>
            <a:ext cx="164592" cy="1645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6" name="Text 40"/>
          <p:cNvSpPr/>
          <p:nvPr/>
        </p:nvSpPr>
        <p:spPr>
          <a:xfrm>
            <a:off x="7909560" y="5669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Disciplined Branching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isolated, reviewed, and merged through a consistent, auditable path.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54096" y="202082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git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302" y="2072030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84448" y="1975104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84448" y="2194560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always deployable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 rot="10800000">
            <a:off x="6044184" y="2500884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2926080" y="2624328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54096" y="27249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5" name="Image 1" descr="/home/claude/habot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302" y="2776118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4448" y="2679192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84448" y="2898648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 for upcoming release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 rot="10800000">
            <a:off x="6044184" y="3204972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2926080" y="3328416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054096" y="34290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2" descr="/home/claude/habot/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302" y="348020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84448" y="3383280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584448" y="3602736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feature or fix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 rot="10800000">
            <a:off x="6044184" y="3909060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2926080" y="4032504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054096" y="413308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3" descr="/home/claude/habot/icons/uplo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302" y="418429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84448" y="4087368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3584448" y="4306824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proposed for review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 rot="10800000">
            <a:off x="6044184" y="4613148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1" name="Shape 25"/>
          <p:cNvSpPr/>
          <p:nvPr/>
        </p:nvSpPr>
        <p:spPr>
          <a:xfrm>
            <a:off x="2926080" y="4736592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054096" y="483717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4" descr="/home/claude/habot/icon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5302" y="4888382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584448" y="4791456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584448" y="5010912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against quality standards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 rot="10800000">
            <a:off x="6044184" y="5317236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7" name="Shape 30"/>
          <p:cNvSpPr/>
          <p:nvPr/>
        </p:nvSpPr>
        <p:spPr>
          <a:xfrm>
            <a:off x="2926080" y="544068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054096" y="554126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9" name="Image 5" descr="/home/claude/habot/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5302" y="5592470"/>
            <a:ext cx="263347" cy="26334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3584448" y="5495544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3584448" y="5715000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change merged into develop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Commit to Release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runs the full quality gate automatically — no manual step required.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7884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090" y="262981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 rot="5400000">
            <a:off x="2606040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12" name="Shape 9"/>
          <p:cNvSpPr/>
          <p:nvPr/>
        </p:nvSpPr>
        <p:spPr>
          <a:xfrm>
            <a:off x="2779776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4740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1" descr="/home/claude/habot/icons/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946" y="262981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07208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 rot="5400000">
            <a:off x="4882896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17" name="Shape 13"/>
          <p:cNvSpPr/>
          <p:nvPr/>
        </p:nvSpPr>
        <p:spPr>
          <a:xfrm>
            <a:off x="5056632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11596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checksqua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802" y="262981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4064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59752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3488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88452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3" descr="/home/claude/habot/icons/co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9658" y="262981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 rot="5400000">
            <a:off x="9436608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27" name="Shape 21"/>
          <p:cNvSpPr/>
          <p:nvPr/>
        </p:nvSpPr>
        <p:spPr>
          <a:xfrm>
            <a:off x="9610344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465308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4" descr="/home/claude/habot/icon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6514" y="2629814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37776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 rot="10800000">
            <a:off x="10575036" y="3520440"/>
            <a:ext cx="146304" cy="146304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32" name="Shape 25"/>
          <p:cNvSpPr/>
          <p:nvPr/>
        </p:nvSpPr>
        <p:spPr>
          <a:xfrm>
            <a:off x="50292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64249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5" descr="/home/claude/habot/icons/play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3697" y="4092854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035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 rot="5400000">
            <a:off x="3175254" y="432968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37" name="Shape 29"/>
          <p:cNvSpPr/>
          <p:nvPr/>
        </p:nvSpPr>
        <p:spPr>
          <a:xfrm>
            <a:off x="334899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48856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9" name="Image 6" descr="/home/claude/habot/icons/packag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767" y="4092854"/>
            <a:ext cx="263347" cy="26334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37642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 rot="5400000">
            <a:off x="6021324" y="432968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42" name="Shape 33"/>
          <p:cNvSpPr/>
          <p:nvPr/>
        </p:nvSpPr>
        <p:spPr>
          <a:xfrm>
            <a:off x="619506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33463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4" name="Image 7" descr="/home/claude/habot/icons/setting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5837" y="4092854"/>
            <a:ext cx="263347" cy="263347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22249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 rot="5400000">
            <a:off x="8867394" y="432968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47" name="Shape 37"/>
          <p:cNvSpPr/>
          <p:nvPr/>
        </p:nvSpPr>
        <p:spPr>
          <a:xfrm>
            <a:off x="904113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1018070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9" name="Image 8" descr="/home/claude/habot/icons/clou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1907" y="4092854"/>
            <a:ext cx="263347" cy="263347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06856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51" name="Text 40"/>
          <p:cNvSpPr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failed stage blocks the release automatically — quality gates, not gatekeepers.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ENFORCEMENT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Before Every Merge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checksqua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19449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099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057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style and catches bugs statically.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1508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habo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049" y="194492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17099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49440" y="2057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lint &amp; tests as a pre-commit / pre-push guard.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2004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/home/claude/habot/icons/githu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9" y="3636569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401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37490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full CI pipeline on every push.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35040" y="32004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63640" y="3566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habot/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049" y="3636569"/>
            <a:ext cx="362102" cy="3621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3401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49440" y="37490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build, signing, and store deployment.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50292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WORKFLOW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363370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4" descr="/home/claude/habot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137" y="5567599"/>
            <a:ext cx="276515" cy="27651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4360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 rot="5400000">
            <a:off x="2617013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2" name="Shape 25"/>
          <p:cNvSpPr/>
          <p:nvPr/>
        </p:nvSpPr>
        <p:spPr>
          <a:xfrm>
            <a:off x="2818181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32911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5" descr="/home/claude/habot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678" y="5567599"/>
            <a:ext cx="276515" cy="27651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863901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 Pre-Commit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 rot="5400000">
            <a:off x="4886554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7" name="Shape 29"/>
          <p:cNvSpPr/>
          <p:nvPr/>
        </p:nvSpPr>
        <p:spPr>
          <a:xfrm>
            <a:off x="5087722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902452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9" name="Image 6" descr="/home/claude/habot/icons/uploa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219" y="5567599"/>
            <a:ext cx="276515" cy="27651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33442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 rot="5400000">
            <a:off x="7156094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2" name="Shape 33"/>
          <p:cNvSpPr/>
          <p:nvPr/>
        </p:nvSpPr>
        <p:spPr>
          <a:xfrm>
            <a:off x="7357262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8171993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4" name="Image 7" descr="/home/claude/habot/icons/githu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760" y="5567599"/>
            <a:ext cx="276515" cy="276515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402982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 rot="5400000">
            <a:off x="9425635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7" name="Shape 37"/>
          <p:cNvSpPr/>
          <p:nvPr/>
        </p:nvSpPr>
        <p:spPr>
          <a:xfrm>
            <a:off x="9626803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10441534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9" name="Image 8" descr="/home/claude/habot/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5300" y="5567599"/>
            <a:ext cx="276515" cy="276515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672523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 Deploy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for Scale and Clarity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675120" cy="4160520"/>
          </a:xfrm>
          <a:prstGeom prst="roundRect">
            <a:avLst>
              <a:gd name="adj" fmla="val 1978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6479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1803197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2728" y="1746504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parent-lsa-app/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234440" y="209854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2136953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18488" y="208026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600200" y="2432304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14" name="Image 2" descr="/home/claude/habot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5" y="2470709"/>
            <a:ext cx="197510" cy="1975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84248" y="2414016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components/, screens/, services/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234440" y="27660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2804465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488" y="2747772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__tests__/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600200" y="3099816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20" name="Image 4" descr="/home/claude/habot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5" y="3138221"/>
            <a:ext cx="197510" cy="1975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84248" y="308152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unit &amp; integration specs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1234440" y="343357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5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3471977"/>
            <a:ext cx="197510" cy="19751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18488" y="3415284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1600200" y="3767328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26" name="Image 6" descr="/home/claude/habot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5" y="3805733"/>
            <a:ext cx="197510" cy="19751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984248" y="3749040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Maestro .yaml flows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1234440" y="410108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7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4139489"/>
            <a:ext cx="197510" cy="19751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618488" y="4082796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1600200" y="4434840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32" name="Image 8" descr="/home/claude/habot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5" y="4473245"/>
            <a:ext cx="197510" cy="19751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984248" y="441655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ci.yml, release.yml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1234440" y="476859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9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4807001"/>
            <a:ext cx="197510" cy="19751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618488" y="4750308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  &amp;  android/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1234440" y="510235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10" descr="/home/claude/habo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5140757"/>
            <a:ext cx="197510" cy="19751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618488" y="5084064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fastlane/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1234440" y="54361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11" descr="/home/claude/habot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845" y="5474513"/>
            <a:ext cx="197510" cy="19751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1618488" y="541782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43" name="Shape 29"/>
          <p:cNvSpPr/>
          <p:nvPr/>
        </p:nvSpPr>
        <p:spPr>
          <a:xfrm>
            <a:off x="7498080" y="1508760"/>
            <a:ext cx="4160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44" name="Shape 30"/>
          <p:cNvSpPr/>
          <p:nvPr/>
        </p:nvSpPr>
        <p:spPr>
          <a:xfrm>
            <a:off x="7726680" y="17373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5" name="Image 12" descr="/home/claude/habot/icons/githu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089" y="1807769"/>
            <a:ext cx="362102" cy="36210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412480" y="170992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</a:t>
            </a:r>
            <a:endParaRPr lang="en-US" sz="1000" dirty="0"/>
          </a:p>
        </p:txBody>
      </p:sp>
      <p:sp>
        <p:nvSpPr>
          <p:cNvPr id="47" name="Text 32"/>
          <p:cNvSpPr/>
          <p:nvPr/>
        </p:nvSpPr>
        <p:spPr>
          <a:xfrm>
            <a:off x="8412480" y="1965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hlinkClick r:id="rId6"/>
              </a:rPr>
              <a:t>https://github.com/Riteshkumar0101/HabotConnect-QA-Project</a:t>
            </a:r>
            <a:endParaRPr lang="en-US" sz="1150" dirty="0"/>
          </a:p>
        </p:txBody>
      </p:sp>
      <p:sp>
        <p:nvSpPr>
          <p:cNvPr id="48" name="Text 33"/>
          <p:cNvSpPr/>
          <p:nvPr/>
        </p:nvSpPr>
        <p:spPr>
          <a:xfrm>
            <a:off x="7726680" y="2468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github.com/[username]/parent-lsa-app</a:t>
            </a:r>
            <a:endParaRPr lang="en-US" sz="950" dirty="0"/>
          </a:p>
        </p:txBody>
      </p:sp>
      <p:sp>
        <p:nvSpPr>
          <p:cNvPr id="49" name="Text 34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PRINCIPLES</a:t>
            </a:r>
            <a:endParaRPr lang="en-US" sz="1100" dirty="0"/>
          </a:p>
        </p:txBody>
      </p:sp>
      <p:sp>
        <p:nvSpPr>
          <p:cNvPr id="50" name="Shape 35"/>
          <p:cNvSpPr/>
          <p:nvPr/>
        </p:nvSpPr>
        <p:spPr>
          <a:xfrm>
            <a:off x="7498080" y="352044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1" name="Image 13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485" y="3558845"/>
            <a:ext cx="197510" cy="19751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7882128" y="348386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live beside the code they cover</a:t>
            </a:r>
            <a:endParaRPr lang="en-US" sz="1000" dirty="0"/>
          </a:p>
        </p:txBody>
      </p:sp>
      <p:sp>
        <p:nvSpPr>
          <p:cNvPr id="53" name="Shape 37"/>
          <p:cNvSpPr/>
          <p:nvPr/>
        </p:nvSpPr>
        <p:spPr>
          <a:xfrm>
            <a:off x="7498080" y="406908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4" name="Image 14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485" y="4107485"/>
            <a:ext cx="197510" cy="19751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7882128" y="403250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config is version-controlled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7498080" y="461772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7" name="Image 15" descr="/home/claude/habot/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485" y="4656125"/>
            <a:ext cx="197510" cy="19751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7882128" y="458114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folders stay isolated from shared logic</a:t>
            </a:r>
            <a:endParaRPr lang="en-US" sz="1000" dirty="0"/>
          </a:p>
        </p:txBody>
      </p:sp>
      <p:sp>
        <p:nvSpPr>
          <p:cNvPr id="59" name="Shape 41"/>
          <p:cNvSpPr/>
          <p:nvPr/>
        </p:nvSpPr>
        <p:spPr>
          <a:xfrm>
            <a:off x="7498080" y="5303520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A2B45">
                <a:alpha val="12000"/>
              </a:srgbClr>
            </a:outerShdw>
          </a:effectLst>
        </p:spPr>
      </p:sp>
      <p:sp>
        <p:nvSpPr>
          <p:cNvPr id="60" name="Shape 42"/>
          <p:cNvSpPr/>
          <p:nvPr/>
        </p:nvSpPr>
        <p:spPr>
          <a:xfrm>
            <a:off x="7680960" y="555955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1" name="Image 16" descr="/home/claude/habot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5623560"/>
            <a:ext cx="329184" cy="329184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8275320" y="544982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950" dirty="0"/>
          </a:p>
        </p:txBody>
      </p:sp>
      <p:sp>
        <p:nvSpPr>
          <p:cNvPr id="63" name="Text 44"/>
          <p:cNvSpPr/>
          <p:nvPr/>
        </p:nvSpPr>
        <p:spPr>
          <a:xfrm>
            <a:off x="8275320" y="56875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and develop require passing CI checks and one approving review before merge.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645920"/>
            <a:ext cx="3657600" cy="36576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REFLECTION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2032528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9476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60520" y="194767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quality end-to-end — from architecture to release.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715768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/home/claude/habot/icons/aw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278233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6974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160520" y="269748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testing strategy that catches issues before parents do.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465576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/home/claude/habot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3532144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4472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160520" y="34472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every parent, regardless of ability.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215384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/home/claude/habot/icons/refre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8" y="4281952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419709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160520" y="419709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that make every release safer than the last.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965192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4" descr="/home/claude/habot/icons/trendingu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8" y="5031760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94690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160520" y="494690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a scalable QA standard for the whole engineering team.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22960" y="59436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the opportunity to present this architecture.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1323</Words>
  <Application>Microsoft Office PowerPoint</Application>
  <PresentationFormat>Widescreen</PresentationFormat>
  <Paragraphs>305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kumar</cp:lastModifiedBy>
  <cp:revision>2</cp:revision>
  <dcterms:created xsi:type="dcterms:W3CDTF">2026-08-14T09:08:08Z</dcterms:created>
  <dcterms:modified xsi:type="dcterms:W3CDTF">2026-08-14T11:32:13Z</dcterms:modified>
</cp:coreProperties>
</file>
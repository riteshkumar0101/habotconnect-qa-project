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2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image" Target="../media/image-8-5.png"/><Relationship Id="rId9" Type="http://schemas.openxmlformats.org/officeDocument/2006/relationships/image" Target="../media/image-8-5.png"/><Relationship Id="rId10" Type="http://schemas.openxmlformats.org/officeDocument/2006/relationships/image" Target="../media/image-8-5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3.png"/><Relationship Id="rId9" Type="http://schemas.openxmlformats.org/officeDocument/2006/relationships/image" Target="../media/image-13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3.png"/><Relationship Id="rId4" Type="http://schemas.openxmlformats.org/officeDocument/2006/relationships/image" Target="../media/image-14-1.png"/><Relationship Id="rId5" Type="http://schemas.openxmlformats.org/officeDocument/2006/relationships/image" Target="../media/image-14-3.png"/><Relationship Id="rId6" Type="http://schemas.openxmlformats.org/officeDocument/2006/relationships/image" Target="../media/image-14-1.png"/><Relationship Id="rId7" Type="http://schemas.openxmlformats.org/officeDocument/2006/relationships/image" Target="../media/image-14-3.png"/><Relationship Id="rId8" Type="http://schemas.openxmlformats.org/officeDocument/2006/relationships/image" Target="../media/image-14-1.png"/><Relationship Id="rId9" Type="http://schemas.openxmlformats.org/officeDocument/2006/relationships/image" Target="../media/image-14-3.png"/><Relationship Id="rId10" Type="http://schemas.openxmlformats.org/officeDocument/2006/relationships/image" Target="../media/image-14-1.png"/><Relationship Id="rId11" Type="http://schemas.openxmlformats.org/officeDocument/2006/relationships/image" Target="../media/image-14-1.png"/><Relationship Id="rId12" Type="http://schemas.openxmlformats.org/officeDocument/2006/relationships/image" Target="../media/image-14-3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4.png"/><Relationship Id="rId16" Type="http://schemas.openxmlformats.org/officeDocument/2006/relationships/image" Target="../media/image-14-14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 ·  INTERVIEW PRESENTATION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HabotConnect QA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Automated QA Strategy for the Parent-LSA 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Mobile App Quality Assurance Specialist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914400"/>
            <a:ext cx="2148840" cy="4480560"/>
          </a:xfrm>
          <a:prstGeom prst="roundRect">
            <a:avLst>
              <a:gd name="adj" fmla="val 11915"/>
            </a:avLst>
          </a:prstGeom>
          <a:solidFill>
            <a:srgbClr val="0F2748"/>
          </a:solidFill>
          <a:ln w="19050">
            <a:solidFill>
              <a:srgbClr val="2A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71432" y="1207008"/>
            <a:ext cx="1911096" cy="3895344"/>
          </a:xfrm>
          <a:prstGeom prst="roundRect">
            <a:avLst>
              <a:gd name="adj" fmla="val 5742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0948" y="1033272"/>
            <a:ext cx="512064" cy="82296"/>
          </a:xfrm>
          <a:prstGeom prst="roundRect">
            <a:avLst>
              <a:gd name="adj" fmla="val 44444"/>
            </a:avLst>
          </a:prstGeom>
          <a:solidFill>
            <a:srgbClr val="2A4A78"/>
          </a:solidFill>
          <a:ln/>
        </p:spPr>
      </p:sp>
      <p:sp>
        <p:nvSpPr>
          <p:cNvPr id="11" name="Shape 9"/>
          <p:cNvSpPr/>
          <p:nvPr/>
        </p:nvSpPr>
        <p:spPr>
          <a:xfrm>
            <a:off x="9308592" y="1417320"/>
            <a:ext cx="16367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63456" y="1481328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0" descr="/home/claude/habot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9059" y="1506931"/>
            <a:ext cx="131674" cy="13167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601200" y="1517904"/>
            <a:ext cx="960120" cy="82296"/>
          </a:xfrm>
          <a:prstGeom prst="roundRect">
            <a:avLst>
              <a:gd name="adj" fmla="val 44444"/>
            </a:avLst>
          </a:prstGeom>
          <a:solidFill>
            <a:srgbClr val="D7DEEC"/>
          </a:solidFill>
          <a:ln/>
        </p:spPr>
      </p:sp>
      <p:sp>
        <p:nvSpPr>
          <p:cNvPr id="15" name="Shape 12"/>
          <p:cNvSpPr/>
          <p:nvPr/>
        </p:nvSpPr>
        <p:spPr>
          <a:xfrm>
            <a:off x="9308592" y="1874520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90888" y="195681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1" descr="/home/claude/habot/icons/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413" y="2000341"/>
            <a:ext cx="223845" cy="22384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784080" y="1993392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19" name="Shape 15"/>
          <p:cNvSpPr/>
          <p:nvPr/>
        </p:nvSpPr>
        <p:spPr>
          <a:xfrm>
            <a:off x="9784080" y="2139696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20" name="Shape 16"/>
          <p:cNvSpPr/>
          <p:nvPr/>
        </p:nvSpPr>
        <p:spPr>
          <a:xfrm>
            <a:off x="9308592" y="2441448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90888" y="252374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/home/claude/habot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413" y="2567269"/>
            <a:ext cx="223845" cy="22384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784080" y="2560320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24" name="Shape 19"/>
          <p:cNvSpPr/>
          <p:nvPr/>
        </p:nvSpPr>
        <p:spPr>
          <a:xfrm>
            <a:off x="9784080" y="2706624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25" name="Shape 20"/>
          <p:cNvSpPr/>
          <p:nvPr/>
        </p:nvSpPr>
        <p:spPr>
          <a:xfrm>
            <a:off x="9308592" y="3008376"/>
            <a:ext cx="1636776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90888" y="3090672"/>
            <a:ext cx="310896" cy="310896"/>
          </a:xfrm>
          <a:prstGeom prst="ellipse">
            <a:avLst/>
          </a:prstGeom>
          <a:solidFill>
            <a:srgbClr val="132A4D"/>
          </a:solidFill>
          <a:ln/>
        </p:spPr>
      </p:sp>
      <p:pic>
        <p:nvPicPr>
          <p:cNvPr id="27" name="Image 3" descr="/home/claude/habot/icons/creditc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413" y="3134197"/>
            <a:ext cx="223845" cy="22384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784080" y="3127248"/>
            <a:ext cx="822960" cy="73152"/>
          </a:xfrm>
          <a:prstGeom prst="roundRect">
            <a:avLst>
              <a:gd name="adj" fmla="val 50000"/>
            </a:avLst>
          </a:prstGeom>
          <a:solidFill>
            <a:srgbClr val="C9D3E6"/>
          </a:solidFill>
          <a:ln/>
        </p:spPr>
      </p:sp>
      <p:sp>
        <p:nvSpPr>
          <p:cNvPr id="29" name="Shape 23"/>
          <p:cNvSpPr/>
          <p:nvPr/>
        </p:nvSpPr>
        <p:spPr>
          <a:xfrm>
            <a:off x="9784080" y="3273552"/>
            <a:ext cx="548640" cy="64008"/>
          </a:xfrm>
          <a:prstGeom prst="roundRect">
            <a:avLst>
              <a:gd name="adj" fmla="val 57143"/>
            </a:avLst>
          </a:prstGeom>
          <a:solidFill>
            <a:srgbClr val="E1E7F0"/>
          </a:solidFill>
          <a:ln/>
        </p:spPr>
      </p:sp>
      <p:sp>
        <p:nvSpPr>
          <p:cNvPr id="30" name="Shape 24"/>
          <p:cNvSpPr/>
          <p:nvPr/>
        </p:nvSpPr>
        <p:spPr>
          <a:xfrm>
            <a:off x="8732520" y="15544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4" descr="/home/claude/habot/icons/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929" y="1624889"/>
            <a:ext cx="362102" cy="36210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1018520" y="4480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5" descr="/home/claude/habot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8929" y="4550969"/>
            <a:ext cx="362102" cy="36210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4008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0467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6" descr="/home/claude/habot/icons/us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39" y="5869351"/>
            <a:ext cx="276515" cy="2765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9844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NAME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29844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[Full Legal Name]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438912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55371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7" descr="/home/claude/habot/icons/mail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7479" y="5869351"/>
            <a:ext cx="276515" cy="27651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4748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504748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[email@example.com]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138160" y="5623560"/>
            <a:ext cx="3520440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302752" y="5815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6" name="Image 8" descr="/home/claude/habot/icons/phon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519" y="5869351"/>
            <a:ext cx="276515" cy="27651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96528" y="57332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8796528" y="5952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[+00 000 000 0000]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HabotConnect Parent-LSA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 is HabotConnect’s mobile booking platform connecting parents with Licensed Service Assistants. This project designs the automated QA architecture that keeps the app reliable, accessible, and fast as it scales.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0" descr="/home/claude/habot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67" y="2815255"/>
            <a:ext cx="276515" cy="276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6152" y="273405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UI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16152" y="295351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components across screens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261518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76148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" name="Image 1" descr="/home/claude/habot/icons/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767" y="2815255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273405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959352" y="295351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release cycles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66674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81304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0" name="Image 2" descr="/home/claude/habot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7" y="3866815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16152" y="378561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Gaps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216152" y="40050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not yet enforced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291840" y="3666744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429000" y="381304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/home/claude/habot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67" y="3866815"/>
            <a:ext cx="276515" cy="2765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959352" y="378561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Limits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959352" y="4005072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startup on lower-end devices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48920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221224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4" descr="/home/claude/habot/icons/play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10" y="5300594"/>
            <a:ext cx="408188" cy="4081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0749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VIDEO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508760" y="5330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minute walkthrough — Loom / Google Drive link: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508760" y="56052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video link here]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17220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 BOOKING WORKFLOW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72200" y="173736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0216" y="178308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5" descr="/home/claude/habot/icons/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22" y="1834286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30568" y="1737360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Login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 rot="10800000">
            <a:off x="8833104" y="2208276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0" name="Shape 32"/>
          <p:cNvSpPr/>
          <p:nvPr/>
        </p:nvSpPr>
        <p:spPr>
          <a:xfrm>
            <a:off x="6172200" y="2318004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300216" y="236372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6" descr="/home/claude/habot/icons/sear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1422" y="2414930"/>
            <a:ext cx="263347" cy="263347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30568" y="2318004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 LSA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 rot="10800000">
            <a:off x="8833104" y="2788920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5" name="Shape 36"/>
          <p:cNvSpPr/>
          <p:nvPr/>
        </p:nvSpPr>
        <p:spPr>
          <a:xfrm>
            <a:off x="6172200" y="2898648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300216" y="294436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7" descr="/home/claude/habot/icons/us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422" y="2995574"/>
            <a:ext cx="263347" cy="263347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830568" y="2898648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LSA Profile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 rot="10800000">
            <a:off x="8833104" y="3369564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0" name="Shape 40"/>
          <p:cNvSpPr/>
          <p:nvPr/>
        </p:nvSpPr>
        <p:spPr>
          <a:xfrm>
            <a:off x="6172200" y="3479292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300216" y="35250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2" name="Image 8" descr="/home/claude/habot/icons/calenda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422" y="3576218"/>
            <a:ext cx="263347" cy="263347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830568" y="3479292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Date and Time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 rot="10800000">
            <a:off x="8833104" y="3950208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5" name="Shape 44"/>
          <p:cNvSpPr/>
          <p:nvPr/>
        </p:nvSpPr>
        <p:spPr>
          <a:xfrm>
            <a:off x="6172200" y="4059936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6300216" y="410565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7" name="Image 9" descr="/home/claude/habot/icons/checksquar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1422" y="4156862"/>
            <a:ext cx="263347" cy="263347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6830568" y="4059936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</a:t>
            </a:r>
            <a:endParaRPr lang="en-US" sz="1300" dirty="0"/>
          </a:p>
        </p:txBody>
      </p:sp>
      <p:sp>
        <p:nvSpPr>
          <p:cNvPr id="59" name="Shape 47"/>
          <p:cNvSpPr/>
          <p:nvPr/>
        </p:nvSpPr>
        <p:spPr>
          <a:xfrm rot="10800000">
            <a:off x="8833104" y="4530852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60" name="Shape 48"/>
          <p:cNvSpPr/>
          <p:nvPr/>
        </p:nvSpPr>
        <p:spPr>
          <a:xfrm>
            <a:off x="6172200" y="4640580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6300216" y="46863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2" name="Image 10" descr="/home/claude/habot/icons/creditcard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1422" y="4737506"/>
            <a:ext cx="263347" cy="263347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830568" y="4640580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Payment</a:t>
            </a:r>
            <a:endParaRPr lang="en-US" sz="1300" dirty="0"/>
          </a:p>
        </p:txBody>
      </p:sp>
      <p:sp>
        <p:nvSpPr>
          <p:cNvPr id="64" name="Shape 51"/>
          <p:cNvSpPr/>
          <p:nvPr/>
        </p:nvSpPr>
        <p:spPr>
          <a:xfrm rot="10800000">
            <a:off x="8833104" y="5111496"/>
            <a:ext cx="164592" cy="9601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65" name="Shape 52"/>
          <p:cNvSpPr/>
          <p:nvPr/>
        </p:nvSpPr>
        <p:spPr>
          <a:xfrm>
            <a:off x="6172200" y="5221224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66" name="Shape 53"/>
          <p:cNvSpPr/>
          <p:nvPr/>
        </p:nvSpPr>
        <p:spPr>
          <a:xfrm>
            <a:off x="6300216" y="526694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7" name="Image 11" descr="/home/claude/habot/icons/mail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1422" y="5318150"/>
            <a:ext cx="263347" cy="263347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6830568" y="5221224"/>
            <a:ext cx="4690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QA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pipeline that validates every build before it reaches a parent’s device.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75104" y="201168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smart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871" y="2065447"/>
            <a:ext cx="276515" cy="2765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14600" y="19751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19202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Parent-LSA app — the surface under test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rot="10800000">
            <a:off x="2093976" y="2491740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1828800" y="2633472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75104" y="2724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habot/icons/settin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71" y="2778679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26883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Framework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0" y="263347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React Native Testing Library, Maestro run on every change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 rot="10800000">
            <a:off x="2093976" y="3204972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1828800" y="3346704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975104" y="343814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2" descr="/home/claude/habot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71" y="3491911"/>
            <a:ext cx="276515" cy="2765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14600" y="340156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Validation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669280" y="334670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checks via Accessibility Scanner, Stark, TalkBack, VoiceOver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 rot="10800000">
            <a:off x="2093976" y="3918204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1828800" y="4059936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75104" y="41513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/home/claude/habot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71" y="4205143"/>
            <a:ext cx="276515" cy="2765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514600" y="4114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0" y="405993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time, API latency, memory, CPU and FPS profiling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 rot="10800000">
            <a:off x="2093976" y="4631436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1" name="Shape 25"/>
          <p:cNvSpPr/>
          <p:nvPr/>
        </p:nvSpPr>
        <p:spPr>
          <a:xfrm>
            <a:off x="1828800" y="4773168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975104" y="486460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4" descr="/home/claude/habot/icons/git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71" y="4918375"/>
            <a:ext cx="276515" cy="27651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514600" y="482803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669280" y="477316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orchestrates lint, test, and build stages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 rot="10800000">
            <a:off x="2093976" y="5344668"/>
            <a:ext cx="146304" cy="137160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30"/>
          <p:cNvSpPr/>
          <p:nvPr/>
        </p:nvSpPr>
        <p:spPr>
          <a:xfrm>
            <a:off x="1828800" y="5486400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975104" y="55778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5" descr="/home/claude/habot/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871" y="5631607"/>
            <a:ext cx="276515" cy="27651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514600" y="55412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669280" y="54864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 ships verified builds to TestFlight / Play Console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Isolated Coverage with Jest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1188720"/>
          </a:xfrm>
          <a:prstGeom prst="roundRect">
            <a:avLst>
              <a:gd name="adj" fmla="val 6923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7620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181051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setup, native React Native support, snapshot testing, and the fastest feedback loop for logic-level checks.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COVERAGE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1868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335584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1" descr="/home/claude/habo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340705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97864" y="332841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97864" y="354787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token refresh, session guards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46120" y="321868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383280" y="335584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86" y="340705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95344" y="332841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Functionality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895344" y="354787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empty states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22452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3616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3" descr="/home/claude/habot/icons/checksqu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441289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97864" y="433425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Functionality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97864" y="455371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selection, conflict handling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246120" y="4224528"/>
            <a:ext cx="24231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383280" y="43616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creditc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486" y="441289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95344" y="4334256"/>
            <a:ext cx="1636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Validation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895344" y="4553712"/>
            <a:ext cx="1636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error handling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12648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 flipV="1">
            <a:off x="7955280" y="1874520"/>
            <a:ext cx="1828800" cy="1005840"/>
          </a:xfrm>
          <a:prstGeom prst="trapezoid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955280" y="22311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— Maestro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 flipV="1">
            <a:off x="7315200" y="2880360"/>
            <a:ext cx="3108960" cy="1005840"/>
          </a:xfrm>
          <a:prstGeom prst="trapezoid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315200" y="32369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RNTL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 flipV="1">
            <a:off x="6629400" y="3886200"/>
            <a:ext cx="4480560" cy="1280160"/>
          </a:xfrm>
          <a:prstGeom prst="trapezoid">
            <a:avLst/>
          </a:prstGeom>
          <a:solidFill>
            <a:srgbClr val="00C2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629400" y="43799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Jest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12648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tests, lower cost, faster feedback — built bottom-up.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Components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Testing Library — tests how components, state, and APIs behave as a system.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41401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 Testing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real component trees and verifies user-facing behaviour, not implementation detail.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23500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habot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41401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9884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Validation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9884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state transitions — loading, error, success — render the correct UI.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46720" y="21488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47888" y="235000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24140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47888" y="2926080"/>
            <a:ext cx="3118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Testing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47888" y="32004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network layers to validate request/response handling end-to-end within a screen.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8640" y="39776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WORKFLOW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47063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3" descr="/home/claude/habot/icons/smart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830" y="4516039"/>
            <a:ext cx="276515" cy="2765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4360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Component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 rot="5400000">
            <a:off x="3184398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8" name="Shape 22"/>
          <p:cNvSpPr/>
          <p:nvPr/>
        </p:nvSpPr>
        <p:spPr>
          <a:xfrm>
            <a:off x="3385566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3989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0" name="Image 4" descr="/home/claude/habot/icons/us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756" y="4516039"/>
            <a:ext cx="276515" cy="27651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431286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User Interaction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 rot="5400000">
            <a:off x="6021324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3" name="Shape 26"/>
          <p:cNvSpPr/>
          <p:nvPr/>
        </p:nvSpPr>
        <p:spPr>
          <a:xfrm>
            <a:off x="6222492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20915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5" name="Image 5" descr="/home/claude/habot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682" y="4516039"/>
            <a:ext cx="276515" cy="27651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268212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State &amp; UI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 rot="5400000">
            <a:off x="8858250" y="48783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8" name="Shape 30"/>
          <p:cNvSpPr/>
          <p:nvPr/>
        </p:nvSpPr>
        <p:spPr>
          <a:xfrm>
            <a:off x="9059418" y="4343400"/>
            <a:ext cx="2580894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157841" y="44622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0" name="Image 6" descr="/home/claude/habot/icons/clou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608" y="4516039"/>
            <a:ext cx="276515" cy="27651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105138" y="4901184"/>
            <a:ext cx="248945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API Call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E2E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691640" cy="1993392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Speed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4261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2666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E6FBF7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84904" y="149047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4184904" y="14904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331720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YAML config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flake-resistant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73624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73624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65064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native setup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65064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65064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RN-specific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5064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06968" y="1417320"/>
            <a:ext cx="2996184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6968" y="1508760"/>
            <a:ext cx="2996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98408" y="1874520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server setup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98408" y="2258568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execution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98408" y="2642616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broad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8408" y="3026664"/>
            <a:ext cx="2813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5478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is selected for its minimal YAML syntax, native reliability, and fast execution — ideal for a small QA team shipping frequently.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BOOKING WORKFLOW (MAESTRO)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74242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6" name="Image 0" descr="/home/claude/habot/icons/play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09" y="5613319"/>
            <a:ext cx="276515" cy="276515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94360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 rot="5400000">
            <a:off x="2238756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9" name="Shape 36"/>
          <p:cNvSpPr/>
          <p:nvPr/>
        </p:nvSpPr>
        <p:spPr>
          <a:xfrm>
            <a:off x="2439924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065526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1" descr="/home/claude/habo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293" y="5613319"/>
            <a:ext cx="276515" cy="276515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485644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 rot="5400000">
            <a:off x="4130040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4" name="Shape 40"/>
          <p:cNvSpPr/>
          <p:nvPr/>
        </p:nvSpPr>
        <p:spPr>
          <a:xfrm>
            <a:off x="4331208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956810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6" name="Image 2" descr="/home/claude/habot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577" y="5613319"/>
            <a:ext cx="276515" cy="276515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4376928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 rot="5400000">
            <a:off x="6021324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9" name="Shape 44"/>
          <p:cNvSpPr/>
          <p:nvPr/>
        </p:nvSpPr>
        <p:spPr>
          <a:xfrm>
            <a:off x="6222492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6848094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1" name="Image 3" descr="/home/claude/habot/icons/checksqu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861" y="5613319"/>
            <a:ext cx="276515" cy="27651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268212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 rot="5400000">
            <a:off x="7912608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4" name="Shape 48"/>
          <p:cNvSpPr/>
          <p:nvPr/>
        </p:nvSpPr>
        <p:spPr>
          <a:xfrm>
            <a:off x="8113776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5" name="Shape 49"/>
          <p:cNvSpPr/>
          <p:nvPr/>
        </p:nvSpPr>
        <p:spPr>
          <a:xfrm>
            <a:off x="8739378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6" name="Image 4" descr="/home/claude/habot/icons/creditc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145" y="5613319"/>
            <a:ext cx="276515" cy="27651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159496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 rot="5400000">
            <a:off x="9803892" y="583844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59" name="Shape 52"/>
          <p:cNvSpPr/>
          <p:nvPr/>
        </p:nvSpPr>
        <p:spPr>
          <a:xfrm>
            <a:off x="10005060" y="5440680"/>
            <a:ext cx="16352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10630662" y="555955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1" name="Image 5" descr="/home/claude/habot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4429" y="5613319"/>
            <a:ext cx="276515" cy="276515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10050780" y="5998464"/>
            <a:ext cx="154381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COMPLIANCE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to WCAG 2.1 AA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Parent-LSA screen is validated against the four core principles of accessible design.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45425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048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alternatives, sufficient colour contrast, resizable text, screen-reader labels on every element.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214884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habot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50" y="245425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4048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26364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keyboard/switch navigation, generous touch targets, no time-critical interactions.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32877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2793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navigation, clear form labels and error messages, consistent UI patterns.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35040" y="402336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6364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habot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50" y="432877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42793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2636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assistive technologies — TalkBack, VoiceOver — across OS versions.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&amp; Assistive-Tech Auditing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8196" y="1691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006" y="17684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Scanner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automated contrast &amp; label audit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3319272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habot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38" y="17684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10712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Design-stage contrast &amp; colour-blindness checks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6089904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1691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volu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270" y="176845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TalkBack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81344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screen-reader manual walkthroughs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8860536" y="1508760"/>
            <a:ext cx="25877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80092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habot/icons/headphon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902" y="176845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35000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951976" y="2587752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screen-reader manual walkthroughs</a:t>
            </a:r>
            <a:endParaRPr lang="en-US" sz="870" dirty="0"/>
          </a:p>
        </p:txBody>
      </p:sp>
      <p:sp>
        <p:nvSpPr>
          <p:cNvPr id="26" name="Text 20"/>
          <p:cNvSpPr/>
          <p:nvPr/>
        </p:nvSpPr>
        <p:spPr>
          <a:xfrm>
            <a:off x="548640" y="333756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 CHECKLIST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8" name="Image 4" descr="/home/claude/habot/icons/checksqu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165" y="3746845"/>
            <a:ext cx="223845" cy="22384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3685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interactive elements have descriptive labels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70332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1" name="Image 5" descr="/home/claude/habot/icons/checksquar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565" y="3746845"/>
            <a:ext cx="223845" cy="22384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685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contrast meets a 4.5:1 minimum ratio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42519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6" descr="/home/claude/habot/icons/checksquar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65" y="4295485"/>
            <a:ext cx="223845" cy="22384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7552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are at least 44×44 pt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035040" y="42519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7" name="Image 7" descr="/home/claude/habot/icons/checksquar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8565" y="4295485"/>
            <a:ext cx="223845" cy="22384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73952" y="4233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order matches visual reading order</a:t>
            </a:r>
            <a:endParaRPr 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548640" y="480060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0" name="Image 8" descr="/home/claude/habot/icons/checksquar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165" y="4844125"/>
            <a:ext cx="223845" cy="22384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87552" y="4782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announce errors to assistive technology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6035040" y="480060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3" name="Image 9" descr="/home/claude/habot/icons/checksquar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8565" y="4844125"/>
            <a:ext cx="223845" cy="22384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473952" y="4782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fully navigable via screen reader alone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48640" y="5532120"/>
            <a:ext cx="10543032" cy="6858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77240" y="568756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10" descr="/home/claude/habot/icons/refresh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007" y="5741335"/>
            <a:ext cx="276515" cy="276515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325880" y="56235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CADENCE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1325880" y="584301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scans run on every pull request; manual TalkBack / VoiceOver passes run before each release.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What Matters on Mobile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9050">
            <a:solidFill>
              <a:srgbClr val="24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09928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57400"/>
            <a:ext cx="1882932" cy="16459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585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9718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71800"/>
            <a:ext cx="1496690" cy="16459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729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3886200"/>
            <a:ext cx="2414016" cy="164592"/>
          </a:xfrm>
          <a:prstGeom prst="roundRect">
            <a:avLst>
              <a:gd name="adj" fmla="val 50000"/>
            </a:avLst>
          </a:prstGeom>
          <a:solidFill>
            <a:srgbClr val="1B37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886200"/>
            <a:ext cx="2172614" cy="16459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08736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7320" y="4937760"/>
            <a:ext cx="1005840" cy="1005840"/>
          </a:xfrm>
          <a:prstGeom prst="ellipse">
            <a:avLst/>
          </a:prstGeom>
          <a:solidFill>
            <a:srgbClr val="1B3760"/>
          </a:solidFill>
          <a:ln w="381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937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394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03320" y="15087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17007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2" name="Image 0" descr="/home/claude/habo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1764792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26280" y="16184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26280" y="19110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Cold-launch to interactive, target under 2 seconds.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03320" y="24231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886200" y="26151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1" descr="/home/claude/habot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679192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26280" y="25328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26280" y="28254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search endpoints, target under 400ms.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703320" y="33375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886200" y="35295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2" name="Image 2" descr="/home/claude/habot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3593592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526280" y="34472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526280" y="37398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heap during active booking flow.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703320" y="42519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886200" y="44439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3" descr="/home/claude/habot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4507992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526280" y="43616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526280" y="46542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load during scroll and animation.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3703320" y="5166360"/>
            <a:ext cx="7909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3886200" y="53583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2" name="Image 4" descr="/home/claude/habot/icons/wat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5422392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526280" y="5276088"/>
            <a:ext cx="6903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4526280" y="5568696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 steady 60fps on list and transition views.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Techniques Applied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5564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68" y="181709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72821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16736" y="194767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images load on demand, not upfront.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80720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/home/claude/habot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68" y="286865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16736" y="277977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Caching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16736" y="299923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LSA search results served from cache.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85876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im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8" y="39202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16736" y="383133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16736" y="405079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Compressed, correctly-sized assets per device.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70916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910328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3" descr="/home/claude/habot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68" y="4971776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6736" y="4882896"/>
            <a:ext cx="4169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316736" y="5102352"/>
            <a:ext cx="4169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redundant re-renders on list and profile views.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126480" y="1554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OPTIMIZATION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126480" y="192024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0" y="2286000"/>
            <a:ext cx="548640" cy="2834640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29" name="Text 23"/>
          <p:cNvSpPr/>
          <p:nvPr/>
        </p:nvSpPr>
        <p:spPr>
          <a:xfrm>
            <a:off x="6309360" y="20299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78040" y="4156862"/>
            <a:ext cx="548640" cy="96377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5"/>
          <p:cNvSpPr/>
          <p:nvPr/>
        </p:nvSpPr>
        <p:spPr>
          <a:xfrm>
            <a:off x="7086600" y="39008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26364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Time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8046720" y="2711196"/>
            <a:ext cx="548640" cy="2409444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34" name="Text 28"/>
          <p:cNvSpPr/>
          <p:nvPr/>
        </p:nvSpPr>
        <p:spPr>
          <a:xfrm>
            <a:off x="7955280" y="24551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148MB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8823960" y="4100170"/>
            <a:ext cx="548640" cy="102047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0"/>
          <p:cNvSpPr/>
          <p:nvPr/>
        </p:nvSpPr>
        <p:spPr>
          <a:xfrm>
            <a:off x="8732520" y="384413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62MB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90956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692640" y="3136392"/>
            <a:ext cx="548640" cy="1984248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39" name="Text 33"/>
          <p:cNvSpPr/>
          <p:nvPr/>
        </p:nvSpPr>
        <p:spPr>
          <a:xfrm>
            <a:off x="9601200" y="28803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980ms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10469880" y="4497019"/>
            <a:ext cx="548640" cy="623621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5"/>
          <p:cNvSpPr/>
          <p:nvPr/>
        </p:nvSpPr>
        <p:spPr>
          <a:xfrm>
            <a:off x="10378440" y="4240987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310ms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9555480" y="5193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Load Time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400800" y="5715000"/>
            <a:ext cx="164592" cy="164592"/>
          </a:xfrm>
          <a:prstGeom prst="rect">
            <a:avLst/>
          </a:prstGeom>
          <a:solidFill>
            <a:srgbClr val="C9D3E6"/>
          </a:solidFill>
          <a:ln/>
        </p:spPr>
      </p:sp>
      <p:sp>
        <p:nvSpPr>
          <p:cNvPr id="44" name="Text 38"/>
          <p:cNvSpPr/>
          <p:nvPr/>
        </p:nvSpPr>
        <p:spPr>
          <a:xfrm>
            <a:off x="6629400" y="5669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7680960" y="5715000"/>
            <a:ext cx="164592" cy="16459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6" name="Text 40"/>
          <p:cNvSpPr/>
          <p:nvPr/>
        </p:nvSpPr>
        <p:spPr>
          <a:xfrm>
            <a:off x="7909560" y="5669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 Branching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isolated, reviewed, and merged through a consistent, auditable path.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54096" y="202082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git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302" y="2072030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84448" y="1975104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84448" y="2194560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always deployable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 rot="10800000">
            <a:off x="6044184" y="2500884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926080" y="2624328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54096" y="27249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5" name="Image 1" descr="/home/claude/habot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02" y="2776118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4448" y="2679192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84448" y="2898648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 for upcoming release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 rot="10800000">
            <a:off x="6044184" y="3204972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19" name="Shape 15"/>
          <p:cNvSpPr/>
          <p:nvPr/>
        </p:nvSpPr>
        <p:spPr>
          <a:xfrm>
            <a:off x="2926080" y="3328416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054096" y="34290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2" descr="/home/claude/habot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302" y="348020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84448" y="3383280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584448" y="3602736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feature or fix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 rot="10800000">
            <a:off x="6044184" y="3909060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2926080" y="4032504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054096" y="413308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7" name="Image 3" descr="/home/claude/habot/icons/up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302" y="41842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84448" y="4087368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584448" y="4306824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proposed for review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 rot="10800000">
            <a:off x="6044184" y="4613148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1" name="Shape 25"/>
          <p:cNvSpPr/>
          <p:nvPr/>
        </p:nvSpPr>
        <p:spPr>
          <a:xfrm>
            <a:off x="2926080" y="4736592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054096" y="483717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3" name="Image 4" descr="/home/claude/habot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302" y="4888382"/>
            <a:ext cx="263347" cy="26334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584448" y="4791456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584448" y="5010912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against quality standards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 rot="10800000">
            <a:off x="6044184" y="5317236"/>
            <a:ext cx="164592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30"/>
          <p:cNvSpPr/>
          <p:nvPr/>
        </p:nvSpPr>
        <p:spPr>
          <a:xfrm>
            <a:off x="2926080" y="544068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054096" y="554126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5" descr="/home/claude/habot/icons/check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302" y="5592470"/>
            <a:ext cx="263347" cy="26334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584448" y="5495544"/>
            <a:ext cx="5605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3584448" y="5715000"/>
            <a:ext cx="5605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change merged into develop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Commit to Release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runs the full quality gate automatically — no manual step required.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7884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90" y="262981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rot="5400000">
            <a:off x="2606040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2" name="Shape 9"/>
          <p:cNvSpPr/>
          <p:nvPr/>
        </p:nvSpPr>
        <p:spPr>
          <a:xfrm>
            <a:off x="2779776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4740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1" descr="/home/claude/habot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946" y="262981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07208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 rot="5400000">
            <a:off x="4882896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7" name="Shape 13"/>
          <p:cNvSpPr/>
          <p:nvPr/>
        </p:nvSpPr>
        <p:spPr>
          <a:xfrm>
            <a:off x="5056632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11596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9" name="Image 2" descr="/home/claude/habot/icons/checksqu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802" y="262981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4064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59752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488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88452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4" name="Image 3" descr="/home/claude/habot/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2981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 rot="5400000">
            <a:off x="9436608" y="286664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27" name="Shape 21"/>
          <p:cNvSpPr/>
          <p:nvPr/>
        </p:nvSpPr>
        <p:spPr>
          <a:xfrm>
            <a:off x="9610344" y="2468880"/>
            <a:ext cx="2075688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465308" y="257860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514" y="262981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37776" y="2999232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 rot="10800000">
            <a:off x="10575036" y="3520440"/>
            <a:ext cx="146304" cy="146304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32" name="Shape 25"/>
          <p:cNvSpPr/>
          <p:nvPr/>
        </p:nvSpPr>
        <p:spPr>
          <a:xfrm>
            <a:off x="50292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64249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5" descr="/home/claude/habot/icons/playcirc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697" y="4092854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 rot="5400000">
            <a:off x="317525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37" name="Shape 29"/>
          <p:cNvSpPr/>
          <p:nvPr/>
        </p:nvSpPr>
        <p:spPr>
          <a:xfrm>
            <a:off x="334899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48856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6" descr="/home/claude/habot/icons/packa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767" y="4092854"/>
            <a:ext cx="263347" cy="26334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37642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 rot="5400000">
            <a:off x="602132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42" name="Shape 33"/>
          <p:cNvSpPr/>
          <p:nvPr/>
        </p:nvSpPr>
        <p:spPr>
          <a:xfrm>
            <a:off x="619506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733463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4" name="Image 7" descr="/home/claude/habot/icons/setting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5837" y="4092854"/>
            <a:ext cx="263347" cy="263347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22249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 rot="5400000">
            <a:off x="8867394" y="4329684"/>
            <a:ext cx="146304" cy="16459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47" name="Shape 37"/>
          <p:cNvSpPr/>
          <p:nvPr/>
        </p:nvSpPr>
        <p:spPr>
          <a:xfrm>
            <a:off x="9041130" y="3931920"/>
            <a:ext cx="2644902" cy="960120"/>
          </a:xfrm>
          <a:prstGeom prst="roundRect">
            <a:avLst>
              <a:gd name="adj" fmla="val 8571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10180701" y="40416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9" name="Image 8" descr="/home/claude/habot/icons/clou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1907" y="4092854"/>
            <a:ext cx="263347" cy="263347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068562" y="4462272"/>
            <a:ext cx="25900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51" name="Text 40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stage blocks the release automatically — quality gates, not gatekeepers.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Before Every Merge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checksqua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194492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099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style and catches bugs statically.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15087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habot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049" y="194492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17099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94944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lint &amp; tests as a pre-commit / pre-push guard.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2004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2" descr="/home/claude/habot/icons/githu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3636569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401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full CI pipeline on every push.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35040" y="320040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63640" y="3566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habot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049" y="3636569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3401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949440" y="37490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build, signing, and store deployment.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50292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WORKFLOW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363370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9" name="Image 4" descr="/home/claude/habot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137" y="5567599"/>
            <a:ext cx="276515" cy="27651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4360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 rot="5400000">
            <a:off x="2617013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2" name="Shape 25"/>
          <p:cNvSpPr/>
          <p:nvPr/>
        </p:nvSpPr>
        <p:spPr>
          <a:xfrm>
            <a:off x="2818181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32911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4" name="Image 5" descr="/home/claude/habot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678" y="5567599"/>
            <a:ext cx="276515" cy="27651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863901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Pre-Commit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 rot="5400000">
            <a:off x="4886554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7" name="Shape 29"/>
          <p:cNvSpPr/>
          <p:nvPr/>
        </p:nvSpPr>
        <p:spPr>
          <a:xfrm>
            <a:off x="5087722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902452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9" name="Image 6" descr="/home/claude/habot/icons/uploa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219" y="5567599"/>
            <a:ext cx="276515" cy="27651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33442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 rot="5400000">
            <a:off x="7156094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2" name="Shape 33"/>
          <p:cNvSpPr/>
          <p:nvPr/>
        </p:nvSpPr>
        <p:spPr>
          <a:xfrm>
            <a:off x="7357262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8171993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4" name="Image 7" descr="/home/claude/habot/icons/github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760" y="5567599"/>
            <a:ext cx="276515" cy="276515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402982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 rot="5400000">
            <a:off x="9425635" y="5792724"/>
            <a:ext cx="146304" cy="164592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47" name="Shape 37"/>
          <p:cNvSpPr/>
          <p:nvPr/>
        </p:nvSpPr>
        <p:spPr>
          <a:xfrm>
            <a:off x="9626803" y="5394960"/>
            <a:ext cx="2013509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10441534" y="551383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9" name="Image 8" descr="/home/claude/habot/icons/clou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95300" y="5567599"/>
            <a:ext cx="276515" cy="276515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672523" y="5952744"/>
            <a:ext cx="1922069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 Deploy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for Scale and Clarity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4160520"/>
          </a:xfrm>
          <a:prstGeom prst="roundRect">
            <a:avLst>
              <a:gd name="adj" fmla="val 1978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6479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0" descr="/home/claude/habot/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803197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2728" y="1746504"/>
            <a:ext cx="5806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parent-lsa-app/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234440" y="209854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habot/icons/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45" y="2136953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18488" y="208026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600200" y="2432304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14" name="Image 2" descr="/home/claude/habot/icons/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05" y="2470709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84248" y="2414016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components/, screens/, services/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234440" y="27660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habot/icons/fold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5" y="2804465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2747772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__tests__/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600200" y="3099816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20" name="Image 4" descr="/home/claude/habot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605" y="3138221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84248" y="308152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unit &amp; integration specs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1234440" y="343357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5" descr="/home/claude/habot/icons/fold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845" y="3471977"/>
            <a:ext cx="197510" cy="19751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18488" y="3415284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1600200" y="3767328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26" name="Image 6" descr="/home/claude/habot/icons/cod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605" y="3805733"/>
            <a:ext cx="197510" cy="19751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984248" y="3749040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Maestro .yaml flows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1234440" y="410108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7" descr="/home/claude/habot/icons/fold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2845" y="4139489"/>
            <a:ext cx="197510" cy="19751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18488" y="4082796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1600200" y="4434840"/>
            <a:ext cx="274320" cy="274320"/>
          </a:xfrm>
          <a:prstGeom prst="ellipse">
            <a:avLst/>
          </a:prstGeom>
          <a:solidFill>
            <a:srgbClr val="3A5580"/>
          </a:solidFill>
          <a:ln/>
        </p:spPr>
      </p:sp>
      <p:pic>
        <p:nvPicPr>
          <p:cNvPr id="32" name="Image 8" descr="/home/claude/habot/icons/cod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605" y="4473245"/>
            <a:ext cx="197510" cy="19751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984248" y="441655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ci.yml, release.yml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1234440" y="476859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9" descr="/home/claude/habot/icons/folder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2845" y="4807001"/>
            <a:ext cx="197510" cy="19751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618488" y="4750308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  &amp;  android/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1234440" y="510235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10" descr="/home/claude/habot/icons/folder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2845" y="5140757"/>
            <a:ext cx="197510" cy="19751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618488" y="5084064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fastlane/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1234440" y="54361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11" descr="/home/claude/habot/icons/code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2845" y="5474513"/>
            <a:ext cx="197510" cy="19751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1618488" y="541782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43" name="Shape 29"/>
          <p:cNvSpPr/>
          <p:nvPr/>
        </p:nvSpPr>
        <p:spPr>
          <a:xfrm>
            <a:off x="7498080" y="1508760"/>
            <a:ext cx="4160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44" name="Shape 30"/>
          <p:cNvSpPr/>
          <p:nvPr/>
        </p:nvSpPr>
        <p:spPr>
          <a:xfrm>
            <a:off x="7726680" y="17373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5" name="Image 12" descr="/home/claude/habot/icons/github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7089" y="1807769"/>
            <a:ext cx="362102" cy="36210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412480" y="170992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</a:t>
            </a:r>
            <a:endParaRPr lang="en-US" sz="1000" dirty="0"/>
          </a:p>
        </p:txBody>
      </p:sp>
      <p:sp>
        <p:nvSpPr>
          <p:cNvPr id="47" name="Text 32"/>
          <p:cNvSpPr/>
          <p:nvPr/>
        </p:nvSpPr>
        <p:spPr>
          <a:xfrm>
            <a:off x="8412480" y="1965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public repository link]</a:t>
            </a:r>
            <a:endParaRPr lang="en-US" sz="1150" dirty="0"/>
          </a:p>
        </p:txBody>
      </p:sp>
      <p:sp>
        <p:nvSpPr>
          <p:cNvPr id="48" name="Text 33"/>
          <p:cNvSpPr/>
          <p:nvPr/>
        </p:nvSpPr>
        <p:spPr>
          <a:xfrm>
            <a:off x="7726680" y="2468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github.com/[username]/parent-lsa-app</a:t>
            </a:r>
            <a:endParaRPr lang="en-US" sz="950" dirty="0"/>
          </a:p>
        </p:txBody>
      </p:sp>
      <p:sp>
        <p:nvSpPr>
          <p:cNvPr id="49" name="Text 34"/>
          <p:cNvSpPr/>
          <p:nvPr/>
        </p:nvSpPr>
        <p:spPr>
          <a:xfrm>
            <a:off x="7498080" y="32004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PRINCIPLES</a:t>
            </a:r>
            <a:endParaRPr lang="en-US" sz="1100" dirty="0"/>
          </a:p>
        </p:txBody>
      </p:sp>
      <p:sp>
        <p:nvSpPr>
          <p:cNvPr id="50" name="Shape 35"/>
          <p:cNvSpPr/>
          <p:nvPr/>
        </p:nvSpPr>
        <p:spPr>
          <a:xfrm>
            <a:off x="7498080" y="352044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1" name="Image 13" descr="/home/claude/habot/icons/checksquare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6485" y="3558845"/>
            <a:ext cx="197510" cy="197510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7882128" y="348386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live beside the code they cover</a:t>
            </a:r>
            <a:endParaRPr lang="en-US" sz="1000" dirty="0"/>
          </a:p>
        </p:txBody>
      </p:sp>
      <p:sp>
        <p:nvSpPr>
          <p:cNvPr id="53" name="Shape 37"/>
          <p:cNvSpPr/>
          <p:nvPr/>
        </p:nvSpPr>
        <p:spPr>
          <a:xfrm>
            <a:off x="7498080" y="406908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4" name="Image 14" descr="/home/claude/habot/icons/checksquare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6485" y="4107485"/>
            <a:ext cx="197510" cy="19751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7882128" y="40325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config is version-controlled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7498080" y="4617720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7" name="Image 15" descr="/home/claude/habot/icons/checksquare_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36485" y="4656125"/>
            <a:ext cx="197510" cy="19751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7882128" y="458114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folders stay isolated from shared logic</a:t>
            </a:r>
            <a:endParaRPr lang="en-US" sz="1000" dirty="0"/>
          </a:p>
        </p:txBody>
      </p:sp>
      <p:sp>
        <p:nvSpPr>
          <p:cNvPr id="59" name="Shape 41"/>
          <p:cNvSpPr/>
          <p:nvPr/>
        </p:nvSpPr>
        <p:spPr>
          <a:xfrm>
            <a:off x="7498080" y="5303520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0B1F3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60" name="Shape 42"/>
          <p:cNvSpPr/>
          <p:nvPr/>
        </p:nvSpPr>
        <p:spPr>
          <a:xfrm>
            <a:off x="7680960" y="555955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1" name="Image 16" descr="/home/claude/habot/icons/shield_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44968" y="5623560"/>
            <a:ext cx="329184" cy="329184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8275320" y="544982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950" dirty="0"/>
          </a:p>
        </p:txBody>
      </p:sp>
      <p:sp>
        <p:nvSpPr>
          <p:cNvPr id="63" name="Text 44"/>
          <p:cNvSpPr/>
          <p:nvPr/>
        </p:nvSpPr>
        <p:spPr>
          <a:xfrm>
            <a:off x="8275320" y="56875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and develop require passing CI checks and one approving review before merge.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645920"/>
            <a:ext cx="3657600" cy="36576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REFLECTION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040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HABOTCONNECT  ·  JUNIOR MOBILE QA SPECIALIST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28655" y="6528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0" descr="/home/claude/habot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203252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9476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60520" y="194767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quality end-to-end — from architecture to release.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715768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3" name="Image 1" descr="/home/claude/habot/icons/aw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" y="278233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697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160520" y="269748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testing strategy that catches issues before parents do.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465576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7" name="Image 2" descr="/home/claude/habot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3532144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4472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160520" y="34472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every parent, regardless of ability.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15384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1" name="Image 3" descr="/home/claude/habot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4281952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41970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160520" y="419709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that make every release safer than the last.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65192"/>
            <a:ext cx="475488" cy="47548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5" name="Image 4" descr="/home/claude/habot/icons/trending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5031760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9469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160520" y="494690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a scalable QA standard for the whole engineering team.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32A4D"/>
          </a:solidFill>
          <a:ln w="12700">
            <a:solidFill>
              <a:srgbClr val="24406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22960" y="59436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the opportunity to present this architecture.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2026-08-14T09:08:08Z</dcterms:created>
  <dcterms:modified xsi:type="dcterms:W3CDTF">2026-08-14T09:08:08Z</dcterms:modified>
</cp:coreProperties>
</file>